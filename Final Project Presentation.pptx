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AC68"/>
    <a:srgbClr val="143C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602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 </a:t>
            </a:r>
            <a:r>
              <a:rPr spc="30" dirty="0"/>
              <a:t>OF</a:t>
            </a:r>
            <a:r>
              <a:rPr dirty="0"/>
              <a:t> </a:t>
            </a:r>
            <a:r>
              <a:rPr spc="65" dirty="0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 </a:t>
            </a:r>
            <a:r>
              <a:rPr spc="30" dirty="0"/>
              <a:t>OF</a:t>
            </a:r>
            <a:r>
              <a:rPr dirty="0"/>
              <a:t> </a:t>
            </a:r>
            <a:r>
              <a:rPr spc="65" dirty="0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 </a:t>
            </a:r>
            <a:r>
              <a:rPr spc="30" dirty="0"/>
              <a:t>OF</a:t>
            </a:r>
            <a:r>
              <a:rPr dirty="0"/>
              <a:t> </a:t>
            </a:r>
            <a:r>
              <a:rPr spc="65" dirty="0"/>
              <a:t>GHANA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 </a:t>
            </a:r>
            <a:r>
              <a:rPr spc="30" dirty="0"/>
              <a:t>OF</a:t>
            </a:r>
            <a:r>
              <a:rPr dirty="0"/>
              <a:t> </a:t>
            </a:r>
            <a:r>
              <a:rPr spc="65" dirty="0"/>
              <a:t>GHANA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 </a:t>
            </a:r>
            <a:r>
              <a:rPr spc="30" dirty="0"/>
              <a:t>OF</a:t>
            </a:r>
            <a:r>
              <a:rPr dirty="0"/>
              <a:t> </a:t>
            </a:r>
            <a:r>
              <a:rPr spc="65" dirty="0"/>
              <a:t>GHANA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5"/>
                </a:moveTo>
                <a:lnTo>
                  <a:pt x="10692003" y="326135"/>
                </a:lnTo>
                <a:lnTo>
                  <a:pt x="10692003" y="0"/>
                </a:lnTo>
                <a:lnTo>
                  <a:pt x="0" y="0"/>
                </a:lnTo>
                <a:lnTo>
                  <a:pt x="0" y="326135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1874773"/>
            <a:ext cx="10692130" cy="3810"/>
          </a:xfrm>
          <a:custGeom>
            <a:avLst/>
            <a:gdLst/>
            <a:ahLst/>
            <a:cxnLst/>
            <a:rect l="l" t="t" r="r" b="b"/>
            <a:pathLst>
              <a:path w="10692130" h="3810">
                <a:moveTo>
                  <a:pt x="0" y="3683"/>
                </a:moveTo>
                <a:lnTo>
                  <a:pt x="10692003" y="3683"/>
                </a:lnTo>
                <a:lnTo>
                  <a:pt x="10692003" y="0"/>
                </a:lnTo>
                <a:lnTo>
                  <a:pt x="0" y="0"/>
                </a:lnTo>
                <a:lnTo>
                  <a:pt x="0" y="3683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1982838"/>
            <a:ext cx="10692130" cy="5577205"/>
          </a:xfrm>
          <a:custGeom>
            <a:avLst/>
            <a:gdLst/>
            <a:ahLst/>
            <a:cxnLst/>
            <a:rect l="l" t="t" r="r" b="b"/>
            <a:pathLst>
              <a:path w="10692130" h="5577205">
                <a:moveTo>
                  <a:pt x="0" y="5577166"/>
                </a:moveTo>
                <a:lnTo>
                  <a:pt x="10692003" y="5577166"/>
                </a:lnTo>
                <a:lnTo>
                  <a:pt x="10692003" y="0"/>
                </a:lnTo>
                <a:lnTo>
                  <a:pt x="0" y="0"/>
                </a:lnTo>
                <a:lnTo>
                  <a:pt x="0" y="5577166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0" y="430517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0" y="0"/>
                </a:moveTo>
                <a:lnTo>
                  <a:pt x="10692003" y="0"/>
                </a:lnTo>
                <a:lnTo>
                  <a:pt x="10692003" y="1444256"/>
                </a:lnTo>
                <a:lnTo>
                  <a:pt x="0" y="1444256"/>
                </a:lnTo>
                <a:lnTo>
                  <a:pt x="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326136"/>
            <a:ext cx="10692130" cy="104775"/>
          </a:xfrm>
          <a:custGeom>
            <a:avLst/>
            <a:gdLst/>
            <a:ahLst/>
            <a:cxnLst/>
            <a:rect l="l" t="t" r="r" b="b"/>
            <a:pathLst>
              <a:path w="10692130" h="104775">
                <a:moveTo>
                  <a:pt x="0" y="104381"/>
                </a:moveTo>
                <a:lnTo>
                  <a:pt x="10692003" y="104381"/>
                </a:lnTo>
                <a:lnTo>
                  <a:pt x="10692003" y="0"/>
                </a:lnTo>
                <a:lnTo>
                  <a:pt x="0" y="0"/>
                </a:lnTo>
                <a:lnTo>
                  <a:pt x="0" y="104381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0" y="1878457"/>
            <a:ext cx="10692130" cy="104775"/>
          </a:xfrm>
          <a:custGeom>
            <a:avLst/>
            <a:gdLst/>
            <a:ahLst/>
            <a:cxnLst/>
            <a:rect l="l" t="t" r="r" b="b"/>
            <a:pathLst>
              <a:path w="10692130" h="104775">
                <a:moveTo>
                  <a:pt x="0" y="104381"/>
                </a:moveTo>
                <a:lnTo>
                  <a:pt x="10692003" y="104381"/>
                </a:lnTo>
                <a:lnTo>
                  <a:pt x="10692003" y="0"/>
                </a:lnTo>
                <a:lnTo>
                  <a:pt x="0" y="0"/>
                </a:lnTo>
                <a:lnTo>
                  <a:pt x="0" y="104381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0" y="922299"/>
            <a:ext cx="114139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6" y="6899333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135"/>
              </a:lnSpc>
            </a:pPr>
            <a:r>
              <a:rPr dirty="0"/>
              <a:t>UNIVERSITY </a:t>
            </a:r>
            <a:r>
              <a:rPr spc="30" dirty="0"/>
              <a:t>OF</a:t>
            </a:r>
            <a:r>
              <a:rPr dirty="0"/>
              <a:t> </a:t>
            </a:r>
            <a:r>
              <a:rPr spc="65" dirty="0"/>
              <a:t>GHANA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6"/>
            <a:ext cx="10692130" cy="5466606"/>
          </a:xfrm>
          <a:custGeom>
            <a:avLst/>
            <a:gdLst/>
            <a:ahLst/>
            <a:cxnLst/>
            <a:rect l="l" t="t" r="r" b="b"/>
            <a:pathLst>
              <a:path w="10692130" h="4720590">
                <a:moveTo>
                  <a:pt x="0" y="0"/>
                </a:moveTo>
                <a:lnTo>
                  <a:pt x="10692003" y="0"/>
                </a:lnTo>
                <a:lnTo>
                  <a:pt x="10692003" y="4720234"/>
                </a:lnTo>
                <a:lnTo>
                  <a:pt x="0" y="4720234"/>
                </a:lnTo>
                <a:lnTo>
                  <a:pt x="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5466250"/>
            <a:ext cx="10692130" cy="319405"/>
          </a:xfrm>
          <a:custGeom>
            <a:avLst/>
            <a:gdLst/>
            <a:ahLst/>
            <a:cxnLst/>
            <a:rect l="l" t="t" r="r" b="b"/>
            <a:pathLst>
              <a:path w="10692130" h="319404">
                <a:moveTo>
                  <a:pt x="0" y="319214"/>
                </a:moveTo>
                <a:lnTo>
                  <a:pt x="10692003" y="319214"/>
                </a:lnTo>
                <a:lnTo>
                  <a:pt x="10692003" y="0"/>
                </a:lnTo>
                <a:lnTo>
                  <a:pt x="0" y="0"/>
                </a:lnTo>
                <a:lnTo>
                  <a:pt x="0" y="319214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922299"/>
            <a:ext cx="10692130" cy="1921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2800" dirty="0">
                <a:latin typeface="Bookman Old Style" panose="02050604050505020204" pitchFamily="18" charset="0"/>
              </a:rPr>
              <a:t>CUSTOMER SUPPORT INTENT CLASSIFICATION &amp;</a:t>
            </a:r>
            <a:br>
              <a:rPr lang="en-US" sz="2800" dirty="0">
                <a:latin typeface="Bookman Old Style" panose="02050604050505020204" pitchFamily="18" charset="0"/>
              </a:rPr>
            </a:br>
            <a:r>
              <a:rPr lang="en-US" sz="2800" dirty="0">
                <a:latin typeface="Bookman Old Style" panose="02050604050505020204" pitchFamily="18" charset="0"/>
              </a:rPr>
              <a:t>RESPONSE GENERATION PIPELINE</a:t>
            </a:r>
            <a:br>
              <a:rPr lang="en-GH" sz="2800" dirty="0">
                <a:latin typeface="Bookman Old Style" panose="02050604050505020204" pitchFamily="18" charset="0"/>
              </a:rPr>
            </a:br>
            <a:r>
              <a:rPr lang="en-US" sz="2800" dirty="0">
                <a:latin typeface="Bookman Old Style" panose="02050604050505020204" pitchFamily="18" charset="0"/>
              </a:rPr>
              <a:t>A Dual Model Architecture </a:t>
            </a: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en-US" sz="1800" dirty="0">
                <a:latin typeface="Bookman Old Style" panose="02050604050505020204" pitchFamily="18" charset="0"/>
              </a:rPr>
              <a:t>(TF-IDF Baseline + LLaMA-2 SFT via </a:t>
            </a:r>
            <a:r>
              <a:rPr lang="en-US" sz="1800" dirty="0" err="1">
                <a:latin typeface="Bookman Old Style" panose="02050604050505020204" pitchFamily="18" charset="0"/>
              </a:rPr>
              <a:t>QLoRA</a:t>
            </a:r>
            <a:r>
              <a:rPr lang="en-US" sz="1800" dirty="0">
                <a:latin typeface="Bookman Old Style" panose="02050604050505020204" pitchFamily="18" charset="0"/>
              </a:rPr>
              <a:t>)</a:t>
            </a:r>
            <a:br>
              <a:rPr lang="en-GH" sz="1800" dirty="0">
                <a:latin typeface="Bookman Old Style" panose="02050604050505020204" pitchFamily="18" charset="0"/>
              </a:rPr>
            </a:br>
            <a:endParaRPr sz="1800" spc="-5" dirty="0">
              <a:latin typeface="Bookman Old Style" panose="020506040505050202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2300" y="3338906"/>
            <a:ext cx="9372599" cy="216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Prepared By:		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Barbara Agyenim-Boateng   22423180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Ewurabena </a:t>
            </a:r>
            <a:r>
              <a:rPr lang="en-US" b="1" dirty="0" err="1">
                <a:solidFill>
                  <a:schemeClr val="bg1"/>
                </a:solidFill>
              </a:rPr>
              <a:t>Benyiwa</a:t>
            </a:r>
            <a:r>
              <a:rPr lang="en-US" b="1" dirty="0">
                <a:solidFill>
                  <a:schemeClr val="bg1"/>
                </a:solidFill>
              </a:rPr>
              <a:t> Biney  22252464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Ampem Nketiah Wereko   22422210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Ebenezer D. Laryea           22419547</a:t>
            </a:r>
            <a:endParaRPr lang="en-GH" dirty="0">
              <a:solidFill>
                <a:schemeClr val="bg1"/>
              </a:solidFill>
            </a:endParaRP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Kelvin </a:t>
            </a:r>
            <a:r>
              <a:rPr lang="en-US" b="1" dirty="0" err="1">
                <a:solidFill>
                  <a:schemeClr val="bg1"/>
                </a:solidFill>
              </a:rPr>
              <a:t>Akwetey</a:t>
            </a:r>
            <a:r>
              <a:rPr lang="en-US" b="1" dirty="0">
                <a:solidFill>
                  <a:schemeClr val="bg1"/>
                </a:solidFill>
              </a:rPr>
              <a:t>               22424327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4F792930-5C39-452C-A24E-5255B2EAA5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00" y="5820929"/>
            <a:ext cx="4724400" cy="1741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2C5B7C-B125-4596-A688-2DF5DF364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0" y="6677025"/>
            <a:ext cx="1709303" cy="6796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E26AB5-374E-EC0A-0EEA-1D6D942AF798}"/>
              </a:ext>
            </a:extLst>
          </p:cNvPr>
          <p:cNvSpPr txBox="1"/>
          <p:nvPr/>
        </p:nvSpPr>
        <p:spPr>
          <a:xfrm>
            <a:off x="1079500" y="677530"/>
            <a:ext cx="7860982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800" b="1" i="0" u="none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Customer Support AI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86231D-3826-6E75-CC91-37EC351DD569}"/>
              </a:ext>
            </a:extLst>
          </p:cNvPr>
          <p:cNvSpPr txBox="1"/>
          <p:nvPr/>
        </p:nvSpPr>
        <p:spPr>
          <a:xfrm>
            <a:off x="2784713" y="2409825"/>
            <a:ext cx="4450556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 dirty="0">
                <a:solidFill>
                  <a:srgbClr val="38BDF8"/>
                </a:solidFill>
                <a:latin typeface="Poppins"/>
              </a:rPr>
              <a:t> </a:t>
            </a:r>
            <a:r>
              <a:rPr sz="4000" b="1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52BB03-50E9-5933-928E-374B166BE5AA}"/>
              </a:ext>
            </a:extLst>
          </p:cNvPr>
          <p:cNvSpPr txBox="1"/>
          <p:nvPr/>
        </p:nvSpPr>
        <p:spPr>
          <a:xfrm>
            <a:off x="1536700" y="4202220"/>
            <a:ext cx="7620000" cy="666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20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traditional customer support triage slows down business and frustrates users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121E8C-A0E2-E22A-EFE6-0839F69AF9BE}"/>
              </a:ext>
            </a:extLst>
          </p:cNvPr>
          <p:cNvSpPr/>
          <p:nvPr/>
        </p:nvSpPr>
        <p:spPr>
          <a:xfrm flipV="1">
            <a:off x="3594100" y="2987354"/>
            <a:ext cx="3048000" cy="457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946E135-9944-435D-862E-08662254A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9500" y="6677025"/>
            <a:ext cx="1709303" cy="6796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C52861-0AD1-7633-95AF-A621559200EE}"/>
              </a:ext>
            </a:extLst>
          </p:cNvPr>
          <p:cNvSpPr txBox="1"/>
          <p:nvPr/>
        </p:nvSpPr>
        <p:spPr>
          <a:xfrm>
            <a:off x="165100" y="538678"/>
            <a:ext cx="9849938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0" i="0" u="none" dirty="0">
                <a:solidFill>
                  <a:srgbClr val="38B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Support Bottlenecks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87BF73-C56A-EE33-CD84-04D3EB6ADE55}"/>
              </a:ext>
            </a:extLst>
          </p:cNvPr>
          <p:cNvSpPr txBox="1"/>
          <p:nvPr/>
        </p:nvSpPr>
        <p:spPr>
          <a:xfrm>
            <a:off x="619125" y="2482585"/>
            <a:ext cx="6099175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Message Volume:</a:t>
            </a: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0" i="0" u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250"/>
              </a:lnSpc>
            </a:pP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teams face thousands of routine queries every day.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12CC1-7CE7-6738-AAC8-69230308720F}"/>
              </a:ext>
            </a:extLst>
          </p:cNvPr>
          <p:cNvSpPr txBox="1"/>
          <p:nvPr/>
        </p:nvSpPr>
        <p:spPr>
          <a:xfrm>
            <a:off x="619125" y="3924307"/>
            <a:ext cx="5946775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sz="2400" b="1" i="0" u="none" dirty="0">
                <a:solidFill>
                  <a:srgbClr val="002060"/>
                </a:solidFill>
                <a:latin typeface="Lato"/>
              </a:rPr>
              <a:t> Manual Routing:</a:t>
            </a:r>
            <a:r>
              <a:rPr sz="2400" b="0" i="0" u="none" dirty="0">
                <a:solidFill>
                  <a:srgbClr val="002060"/>
                </a:solidFill>
                <a:latin typeface="Lato"/>
              </a:rPr>
              <a:t> </a:t>
            </a:r>
            <a:endParaRPr lang="en-US" sz="2400" b="0" i="0" u="none" dirty="0">
              <a:solidFill>
                <a:srgbClr val="002060"/>
              </a:solidFill>
              <a:latin typeface="Lato"/>
            </a:endParaRPr>
          </a:p>
          <a:p>
            <a:pPr algn="l">
              <a:lnSpc>
                <a:spcPts val="2250"/>
              </a:lnSpc>
            </a:pPr>
            <a:r>
              <a:rPr sz="2400" b="0" i="0" u="none" dirty="0">
                <a:solidFill>
                  <a:srgbClr val="002060"/>
                </a:solidFill>
                <a:latin typeface="Lato"/>
              </a:rPr>
              <a:t>Humans reading and forwarding tickets causes long wait times.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20186A-E98F-8C73-AEAF-6A30F2AB226C}"/>
              </a:ext>
            </a:extLst>
          </p:cNvPr>
          <p:cNvSpPr txBox="1"/>
          <p:nvPr/>
        </p:nvSpPr>
        <p:spPr>
          <a:xfrm>
            <a:off x="619125" y="5185410"/>
            <a:ext cx="5048250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Rigid Chatbot Failures:</a:t>
            </a: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0" i="0" u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250"/>
              </a:lnSpc>
            </a:pP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chatbots break when customers use typos or slang</a:t>
            </a:r>
            <a:r>
              <a:rPr sz="1500" b="0" i="0" u="none" dirty="0">
                <a:solidFill>
                  <a:srgbClr val="CBD5E1"/>
                </a:solidFill>
                <a:latin typeface="Lato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4B2DC5-82CA-4FB2-ACC7-5081ABFCC875}"/>
              </a:ext>
            </a:extLst>
          </p:cNvPr>
          <p:cNvSpPr txBox="1"/>
          <p:nvPr/>
        </p:nvSpPr>
        <p:spPr>
          <a:xfrm>
            <a:off x="619125" y="6604313"/>
            <a:ext cx="5946775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Customer CSAT:</a:t>
            </a: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0" i="0" u="none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2250"/>
              </a:lnSpc>
            </a:pP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wait times and misdirected requests hurt brand loyalty.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30BF43-5976-C989-EA4C-61B234F3D804}"/>
              </a:ext>
            </a:extLst>
          </p:cNvPr>
          <p:cNvSpPr txBox="1"/>
          <p:nvPr/>
        </p:nvSpPr>
        <p:spPr>
          <a:xfrm>
            <a:off x="178443" y="2509785"/>
            <a:ext cx="180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 dirty="0">
                <a:solidFill>
                  <a:srgbClr val="38BDF8"/>
                </a:solidFill>
                <a:latin typeface="Lato"/>
              </a:rPr>
              <a:t>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E10969-FA10-145A-6B71-0067C2A42E5F}"/>
              </a:ext>
            </a:extLst>
          </p:cNvPr>
          <p:cNvSpPr txBox="1"/>
          <p:nvPr/>
        </p:nvSpPr>
        <p:spPr>
          <a:xfrm>
            <a:off x="194109" y="3988735"/>
            <a:ext cx="180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 dirty="0">
                <a:solidFill>
                  <a:srgbClr val="38BDF8"/>
                </a:solidFill>
                <a:latin typeface="Lato"/>
              </a:rPr>
              <a:t>•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952C34-E7F9-E006-C345-A7394548D035}"/>
              </a:ext>
            </a:extLst>
          </p:cNvPr>
          <p:cNvSpPr txBox="1"/>
          <p:nvPr/>
        </p:nvSpPr>
        <p:spPr>
          <a:xfrm>
            <a:off x="200336" y="5185410"/>
            <a:ext cx="180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 dirty="0">
                <a:solidFill>
                  <a:srgbClr val="38BDF8"/>
                </a:solidFill>
                <a:latin typeface="Lato"/>
              </a:rPr>
              <a:t>•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6CCB79-A1C3-7171-496A-022420179C88}"/>
              </a:ext>
            </a:extLst>
          </p:cNvPr>
          <p:cNvSpPr txBox="1"/>
          <p:nvPr/>
        </p:nvSpPr>
        <p:spPr>
          <a:xfrm>
            <a:off x="194109" y="6664360"/>
            <a:ext cx="180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 dirty="0">
                <a:solidFill>
                  <a:srgbClr val="38BDF8"/>
                </a:solidFill>
                <a:latin typeface="Lato"/>
              </a:rPr>
              <a:t>•</a:t>
            </a:r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8C1138F5-CE8E-9489-BE9C-7F27C9360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900" y="1952625"/>
            <a:ext cx="4127500" cy="441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05AAA0-1235-3FE8-12C6-DC4F9AEEA92B}"/>
              </a:ext>
            </a:extLst>
          </p:cNvPr>
          <p:cNvSpPr txBox="1"/>
          <p:nvPr/>
        </p:nvSpPr>
        <p:spPr>
          <a:xfrm>
            <a:off x="3356451" y="733425"/>
            <a:ext cx="3980497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1310265-6F5D-B4CC-E3BC-E2643AA62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1783" y="2039827"/>
            <a:ext cx="8395176" cy="3088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002060"/>
                </a:solidFill>
                <a:latin typeface="Lato"/>
              </a:rPr>
              <a:t>How our AI system understands customer requests effortlessly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966760-B505-6584-B403-2A6213EBFBFA}"/>
              </a:ext>
            </a:extLst>
          </p:cNvPr>
          <p:cNvSpPr txBox="1"/>
          <p:nvPr/>
        </p:nvSpPr>
        <p:spPr>
          <a:xfrm>
            <a:off x="208940" y="3039486"/>
            <a:ext cx="44196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3-Step Process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BFEA21F7-AF72-AFA5-5550-1B9669903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3" y="4617843"/>
            <a:ext cx="3492549" cy="2695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45DD63E-C55B-F4C7-907C-F3944FD08B5D}"/>
              </a:ext>
            </a:extLst>
          </p:cNvPr>
          <p:cNvSpPr txBox="1"/>
          <p:nvPr/>
        </p:nvSpPr>
        <p:spPr>
          <a:xfrm>
            <a:off x="698500" y="5153025"/>
            <a:ext cx="2280285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F1F5F9"/>
                </a:solidFill>
                <a:latin typeface="Poppins SemiBold"/>
              </a:rPr>
              <a:t> Clean Message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17566-9885-A068-63E0-BCC2DFC55983}"/>
              </a:ext>
            </a:extLst>
          </p:cNvPr>
          <p:cNvSpPr txBox="1"/>
          <p:nvPr/>
        </p:nvSpPr>
        <p:spPr>
          <a:xfrm>
            <a:off x="317500" y="5838825"/>
            <a:ext cx="32004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CBD5E1"/>
                </a:solidFill>
                <a:latin typeface="Lato"/>
              </a:rPr>
              <a:t>Removes unnecessary spaces, fixes typos, and standardizes casual customer phrasing.</a:t>
            </a:r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C81EAE0E-20AF-1C36-F374-83DACF886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963" y="5044168"/>
            <a:ext cx="447675" cy="400050"/>
          </a:xfrm>
          <a:prstGeom prst="rect">
            <a:avLst/>
          </a:prstGeom>
        </p:spPr>
      </p:pic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0B0ED639-E72D-1081-243A-0E79D2307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424" y="4604647"/>
            <a:ext cx="3492549" cy="2695575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090ADED7-0472-CFED-44E8-E044A9BD0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65" y="4617845"/>
            <a:ext cx="3492549" cy="2695575"/>
          </a:xfrm>
          <a:prstGeom prst="rect">
            <a:avLst/>
          </a:prstGeom>
        </p:spPr>
      </p:pic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E8693795-AEB3-A043-00C0-5C6D349749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1644" y="5103041"/>
            <a:ext cx="400050" cy="40005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D0C4C2E-A465-8485-758D-2451FF821DC6}"/>
              </a:ext>
            </a:extLst>
          </p:cNvPr>
          <p:cNvSpPr txBox="1"/>
          <p:nvPr/>
        </p:nvSpPr>
        <p:spPr>
          <a:xfrm>
            <a:off x="3881644" y="5838825"/>
            <a:ext cx="299545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CBD5E1"/>
                </a:solidFill>
                <a:latin typeface="Lato"/>
              </a:rPr>
              <a:t>Converts words into a smart representation that captures the customer's exact intent.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ADB155-9059-183A-9FC7-EE5381B143AC}"/>
              </a:ext>
            </a:extLst>
          </p:cNvPr>
          <p:cNvSpPr txBox="1"/>
          <p:nvPr/>
        </p:nvSpPr>
        <p:spPr>
          <a:xfrm>
            <a:off x="4380426" y="5153025"/>
            <a:ext cx="2310288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F1F5F9"/>
                </a:solidFill>
                <a:latin typeface="Poppins SemiBold"/>
              </a:rPr>
              <a:t>Grasp Meaning</a:t>
            </a:r>
          </a:p>
        </p:txBody>
      </p:sp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69AF6764-DD88-FB1D-5DE7-40B99F4DBB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300" y="5053057"/>
            <a:ext cx="400050" cy="40005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B302733-A25F-3AE9-99EA-54C13BA76B9B}"/>
              </a:ext>
            </a:extLst>
          </p:cNvPr>
          <p:cNvSpPr txBox="1"/>
          <p:nvPr/>
        </p:nvSpPr>
        <p:spPr>
          <a:xfrm>
            <a:off x="7990042" y="5081632"/>
            <a:ext cx="2100262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F1F5F9"/>
                </a:solidFill>
                <a:latin typeface="Poppins SemiBold"/>
              </a:rPr>
              <a:t>Instant Route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FFB9AF-3548-4012-A7DB-BF622E9C275A}"/>
              </a:ext>
            </a:extLst>
          </p:cNvPr>
          <p:cNvSpPr txBox="1"/>
          <p:nvPr/>
        </p:nvSpPr>
        <p:spPr>
          <a:xfrm>
            <a:off x="7680325" y="5838825"/>
            <a:ext cx="29019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CBD5E1"/>
                </a:solidFill>
                <a:latin typeface="Lato"/>
              </a:rPr>
              <a:t>Sends the inquiry immediately to the right agent or automated service channel.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149577-1F40-56DE-5FCE-4A4F51950727}"/>
              </a:ext>
            </a:extLst>
          </p:cNvPr>
          <p:cNvSpPr/>
          <p:nvPr/>
        </p:nvSpPr>
        <p:spPr>
          <a:xfrm>
            <a:off x="207963" y="3531929"/>
            <a:ext cx="3673680" cy="457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59678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5727C-1D0C-84F3-6F5D-81B224A28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670" y="2105025"/>
            <a:ext cx="9624060" cy="4991481"/>
          </a:xfrm>
        </p:spPr>
        <p:txBody>
          <a:bodyPr/>
          <a:lstStyle/>
          <a:p>
            <a:endParaRPr lang="en-GH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43AF0-33BF-F7B9-DE2F-286EB80871B7}"/>
              </a:ext>
            </a:extLst>
          </p:cNvPr>
          <p:cNvSpPr txBox="1"/>
          <p:nvPr/>
        </p:nvSpPr>
        <p:spPr>
          <a:xfrm>
            <a:off x="1460500" y="733425"/>
            <a:ext cx="116014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48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Intent</a:t>
            </a:r>
          </a:p>
        </p:txBody>
      </p:sp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E46C6DBD-58A9-CED9-B5FF-251BCF317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" y="2105024"/>
            <a:ext cx="5334000" cy="2428875"/>
          </a:xfrm>
          <a:prstGeom prst="rect">
            <a:avLst/>
          </a:prstGeom>
        </p:spPr>
      </p:pic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EA61BF56-1CC9-1926-3616-5086E7308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730" y="4676984"/>
            <a:ext cx="5334000" cy="2428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881390-E28E-5AFE-F31D-DEE2652D0BEB}"/>
              </a:ext>
            </a:extLst>
          </p:cNvPr>
          <p:cNvSpPr txBox="1"/>
          <p:nvPr/>
        </p:nvSpPr>
        <p:spPr>
          <a:xfrm>
            <a:off x="664454" y="2257426"/>
            <a:ext cx="498704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"Customer Intent"?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285D8-ED7E-0871-BA8E-0A098BD85D3A}"/>
              </a:ext>
            </a:extLst>
          </p:cNvPr>
          <p:cNvSpPr txBox="1"/>
          <p:nvPr/>
        </p:nvSpPr>
        <p:spPr>
          <a:xfrm>
            <a:off x="877570" y="2819400"/>
            <a:ext cx="4648200" cy="1474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20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Intent is simply the core goal of the customer's message—such as asking for a refund, changing an address, or resetting a password. Recognizing intent helps answer queries automatically.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78F0B3-AAF6-EB5A-BE0D-81438EF1A65F}"/>
              </a:ext>
            </a:extLst>
          </p:cNvPr>
          <p:cNvSpPr txBox="1"/>
          <p:nvPr/>
        </p:nvSpPr>
        <p:spPr>
          <a:xfrm>
            <a:off x="5118100" y="4788945"/>
            <a:ext cx="488061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Our AI Performs Better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5A3ED5-593B-7A7E-AE37-64DD8EC0798B}"/>
              </a:ext>
            </a:extLst>
          </p:cNvPr>
          <p:cNvSpPr txBox="1"/>
          <p:nvPr/>
        </p:nvSpPr>
        <p:spPr>
          <a:xfrm>
            <a:off x="5234305" y="5464331"/>
            <a:ext cx="464820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0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Instead of searching for exact keywords like legacy bots, our AI understands human meaning—even if the customer uses slang, polite phrases, or incomplete sentences.</a:t>
            </a:r>
          </a:p>
        </p:txBody>
      </p:sp>
    </p:spTree>
    <p:extLst>
      <p:ext uri="{BB962C8B-B14F-4D97-AF65-F5344CB8AC3E}">
        <p14:creationId xmlns:p14="http://schemas.microsoft.com/office/powerpoint/2010/main" val="846279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F31D9A-2453-75BC-F2F0-97BBF9E993D6}"/>
              </a:ext>
            </a:extLst>
          </p:cNvPr>
          <p:cNvSpPr txBox="1"/>
          <p:nvPr/>
        </p:nvSpPr>
        <p:spPr>
          <a:xfrm>
            <a:off x="2222500" y="809625"/>
            <a:ext cx="501062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Speed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34EEF6-A40C-1EB0-AE51-FE78366041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7077781"/>
            <a:ext cx="9623425" cy="313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Proving that smart, simple technology delivers top performance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67A275-3D39-A4EB-2084-2F771B051A02}"/>
              </a:ext>
            </a:extLst>
          </p:cNvPr>
          <p:cNvSpPr txBox="1"/>
          <p:nvPr/>
        </p:nvSpPr>
        <p:spPr>
          <a:xfrm>
            <a:off x="2451100" y="2105025"/>
            <a:ext cx="54991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 Comparison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C641AD86-BD48-7472-11A3-F0476A246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19" y="2031446"/>
            <a:ext cx="8470900" cy="43674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9567B7-D69D-734B-64CE-BA5E0DAA6739}"/>
              </a:ext>
            </a:extLst>
          </p:cNvPr>
          <p:cNvSpPr txBox="1"/>
          <p:nvPr/>
        </p:nvSpPr>
        <p:spPr>
          <a:xfrm>
            <a:off x="1765300" y="5015352"/>
            <a:ext cx="7379119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2000" b="0" i="1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chosen Smart Linear AI achieved a 99.5% success rate, outperforming heavier and more complex models.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22D160-D613-3D4A-FB57-D9371BA43191}"/>
              </a:ext>
            </a:extLst>
          </p:cNvPr>
          <p:cNvSpPr/>
          <p:nvPr/>
        </p:nvSpPr>
        <p:spPr>
          <a:xfrm>
            <a:off x="2832100" y="2575909"/>
            <a:ext cx="4800599" cy="457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8095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AC31209-6888-3EF7-3D3F-394D6D8C18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010712"/>
              </p:ext>
            </p:extLst>
          </p:nvPr>
        </p:nvGraphicFramePr>
        <p:xfrm>
          <a:off x="469900" y="2181225"/>
          <a:ext cx="9906000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60139597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54850961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890906676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612575800"/>
                    </a:ext>
                  </a:extLst>
                </a:gridCol>
              </a:tblGrid>
              <a:tr h="10810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Approach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Operational Ease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472349"/>
                  </a:ext>
                </a:extLst>
              </a:tr>
              <a:tr h="10810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Linear AI (Selected)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99.5%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12ms (Fastest)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 &amp; Efficient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6850740"/>
                  </a:ext>
                </a:extLst>
              </a:tr>
              <a:tr h="62632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Vector Classifier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98.8%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14ms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533917"/>
                  </a:ext>
                </a:extLst>
              </a:tr>
              <a:tr h="62632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Forest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92.4%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48ms 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118608"/>
                  </a:ext>
                </a:extLst>
              </a:tr>
              <a:tr h="10810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 Bot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84.1%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4ms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Precision</a:t>
                      </a:r>
                      <a:endParaRPr lang="en-GH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606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CB27FA2-03C7-204A-7E68-58F5A7EA93A0}"/>
              </a:ext>
            </a:extLst>
          </p:cNvPr>
          <p:cNvSpPr txBox="1"/>
          <p:nvPr/>
        </p:nvSpPr>
        <p:spPr>
          <a:xfrm>
            <a:off x="2451100" y="553774"/>
            <a:ext cx="1160145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Metric Summary</a:t>
            </a:r>
          </a:p>
        </p:txBody>
      </p:sp>
    </p:spTree>
    <p:extLst>
      <p:ext uri="{BB962C8B-B14F-4D97-AF65-F5344CB8AC3E}">
        <p14:creationId xmlns:p14="http://schemas.microsoft.com/office/powerpoint/2010/main" val="4179542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C7252F-19FD-F8CF-5FDB-5FC382071FB0}"/>
              </a:ext>
            </a:extLst>
          </p:cNvPr>
          <p:cNvSpPr txBox="1"/>
          <p:nvPr/>
        </p:nvSpPr>
        <p:spPr>
          <a:xfrm>
            <a:off x="1917700" y="576771"/>
            <a:ext cx="68580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Lightning Fast Processing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0289AC0-765F-F154-505E-6C026E048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2843715"/>
            <a:ext cx="4267200" cy="21812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C9F83FC-3561-B085-15B7-8E867E4FD2AC}"/>
              </a:ext>
            </a:extLst>
          </p:cNvPr>
          <p:cNvSpPr txBox="1"/>
          <p:nvPr/>
        </p:nvSpPr>
        <p:spPr>
          <a:xfrm>
            <a:off x="317500" y="3339299"/>
            <a:ext cx="4267200" cy="10868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9600" b="1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BBAB01-F176-A1C6-798F-2B6B8377B548}"/>
              </a:ext>
            </a:extLst>
          </p:cNvPr>
          <p:cNvSpPr txBox="1"/>
          <p:nvPr/>
        </p:nvSpPr>
        <p:spPr>
          <a:xfrm>
            <a:off x="5219700" y="3181350"/>
            <a:ext cx="4394200" cy="300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 dirty="0">
                <a:solidFill>
                  <a:srgbClr val="002060"/>
                </a:solidFill>
                <a:latin typeface="Poppins SemiBold"/>
              </a:rPr>
              <a:t>Instantaneous User Experience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C0549B-CFE6-A638-8DF8-6AE4D3DDEBC6}"/>
              </a:ext>
            </a:extLst>
          </p:cNvPr>
          <p:cNvSpPr txBox="1"/>
          <p:nvPr/>
        </p:nvSpPr>
        <p:spPr>
          <a:xfrm>
            <a:off x="4902200" y="3655372"/>
            <a:ext cx="5473700" cy="8520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002060"/>
                </a:solidFill>
                <a:latin typeface="Lato"/>
              </a:rPr>
              <a:t>The system categorizes incoming customer requests in under 15 milliseconds</a:t>
            </a:r>
            <a:r>
              <a:rPr lang="en-US" sz="1500" b="0" i="0" u="none" dirty="0">
                <a:solidFill>
                  <a:srgbClr val="002060"/>
                </a:solidFill>
                <a:latin typeface="Lato"/>
              </a:rPr>
              <a:t>, </a:t>
            </a:r>
            <a:r>
              <a:rPr sz="1500" b="0" i="0" u="none" dirty="0">
                <a:solidFill>
                  <a:srgbClr val="002060"/>
                </a:solidFill>
                <a:latin typeface="Lato"/>
              </a:rPr>
              <a:t>faster than the blink of an eye. This allows live chat systems to respond immediately without any human delay.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08C7B2D-FC39-06E5-4D63-578E4257A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700" y="2147410"/>
            <a:ext cx="3352800" cy="553998"/>
          </a:xfrm>
        </p:spPr>
        <p:txBody>
          <a:bodyPr/>
          <a:lstStyle/>
          <a:p>
            <a:endParaRPr lang="en-US" dirty="0"/>
          </a:p>
          <a:p>
            <a:endParaRPr lang="en-GH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6E0B17-F410-C714-CCEA-0E81727DE8D1}"/>
              </a:ext>
            </a:extLst>
          </p:cNvPr>
          <p:cNvSpPr txBox="1"/>
          <p:nvPr/>
        </p:nvSpPr>
        <p:spPr>
          <a:xfrm>
            <a:off x="774700" y="2149817"/>
            <a:ext cx="350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</a:t>
            </a:r>
            <a:endParaRPr lang="en-GH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66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B58392-260F-BA0B-BBE4-E8B84FC0E73E}"/>
              </a:ext>
            </a:extLst>
          </p:cNvPr>
          <p:cNvSpPr txBox="1"/>
          <p:nvPr/>
        </p:nvSpPr>
        <p:spPr>
          <a:xfrm>
            <a:off x="2496344" y="657225"/>
            <a:ext cx="57007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Business Impact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829D79-B8A4-A739-4AC6-7D0336380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2028825"/>
            <a:ext cx="603091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Tangible ROI for Support Teams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2C1FD-D32F-27E3-2CEB-E874A78F9826}"/>
              </a:ext>
            </a:extLst>
          </p:cNvPr>
          <p:cNvSpPr txBox="1"/>
          <p:nvPr/>
        </p:nvSpPr>
        <p:spPr>
          <a:xfrm>
            <a:off x="1612899" y="3476625"/>
            <a:ext cx="6030911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Agent Workload:</a:t>
            </a: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Automates up to 40% of repetitive ticketing and classification tasks.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B2445-80E6-A6EA-27F9-1B6C166F12FC}"/>
              </a:ext>
            </a:extLst>
          </p:cNvPr>
          <p:cNvSpPr txBox="1"/>
          <p:nvPr/>
        </p:nvSpPr>
        <p:spPr>
          <a:xfrm>
            <a:off x="4584700" y="5555582"/>
            <a:ext cx="542925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Boosts First-Contact Resolution:</a:t>
            </a:r>
            <a:r>
              <a:rPr sz="24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Directs customers to the right solution immediately on the first attempt.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C78E53-FC6A-4715-2550-DEF8C6AC39D3}"/>
              </a:ext>
            </a:extLst>
          </p:cNvPr>
          <p:cNvSpPr/>
          <p:nvPr/>
        </p:nvSpPr>
        <p:spPr>
          <a:xfrm>
            <a:off x="165100" y="2551516"/>
            <a:ext cx="5486399" cy="457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34204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7C823-2072-8E1B-0222-7D5A24A96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FA1A28-0699-10BC-F27D-2E12B143C55C}"/>
              </a:ext>
            </a:extLst>
          </p:cNvPr>
          <p:cNvSpPr txBox="1"/>
          <p:nvPr/>
        </p:nvSpPr>
        <p:spPr>
          <a:xfrm>
            <a:off x="2496344" y="657225"/>
            <a:ext cx="57007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Business Impact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D0FBF2D-FD07-D962-FDD0-4AB23AB00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2028825"/>
            <a:ext cx="603091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Tangible ROI for Support Teams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06B689-0E4E-E6FA-2B2C-DC1D770AD405}"/>
              </a:ext>
            </a:extLst>
          </p:cNvPr>
          <p:cNvSpPr/>
          <p:nvPr/>
        </p:nvSpPr>
        <p:spPr>
          <a:xfrm>
            <a:off x="165100" y="2551516"/>
            <a:ext cx="5486399" cy="457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65CF13-FD5F-8449-99EA-E48FDDA85B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2627482"/>
            <a:ext cx="10439400" cy="4935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53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D4B5-4EDC-13DF-E258-B3EC59D96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FD18AE-6C2F-827C-8D8D-71773DA0E623}"/>
              </a:ext>
            </a:extLst>
          </p:cNvPr>
          <p:cNvSpPr txBox="1"/>
          <p:nvPr/>
        </p:nvSpPr>
        <p:spPr>
          <a:xfrm>
            <a:off x="2496344" y="657225"/>
            <a:ext cx="57007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0" i="0" u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Business Impact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68A016-CA92-775D-A17D-679E7618B2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5100" y="2028825"/>
            <a:ext cx="603091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0" i="0" u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Tangible ROI for Support Teams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BC0F3B-4401-3652-D257-031119FE41BC}"/>
              </a:ext>
            </a:extLst>
          </p:cNvPr>
          <p:cNvSpPr/>
          <p:nvPr/>
        </p:nvSpPr>
        <p:spPr>
          <a:xfrm>
            <a:off x="165100" y="2551516"/>
            <a:ext cx="5486399" cy="45719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2060"/>
              </a:solidFill>
              <a:highlight>
                <a:srgbClr val="000080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FEC2F-63BF-606F-19BE-6A9BF3645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0346"/>
            <a:ext cx="10693400" cy="480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707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C26AC-9ECF-5ED1-A156-D5F75049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7850" y="733425"/>
            <a:ext cx="3237700" cy="738664"/>
          </a:xfr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GH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1BA357-5A7A-ED57-AA37-911B7CD5CF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08300" y="3781425"/>
            <a:ext cx="5181600" cy="8592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002060"/>
                </a:solidFill>
                <a:latin typeface="Poppins"/>
              </a:rPr>
              <a:t>Question</a:t>
            </a:r>
            <a:r>
              <a:rPr lang="en-US" sz="5400" b="1" i="0" u="none" dirty="0">
                <a:solidFill>
                  <a:srgbClr val="002060"/>
                </a:solidFill>
                <a:latin typeface="Poppins"/>
              </a:rPr>
              <a:t>s?</a:t>
            </a:r>
            <a:r>
              <a:rPr lang="en-GH" sz="5400" b="1" i="0" u="none" dirty="0">
                <a:solidFill>
                  <a:srgbClr val="002060"/>
                </a:solidFill>
                <a:latin typeface="Poppins"/>
              </a:rPr>
              <a:t> </a:t>
            </a:r>
            <a:endParaRPr sz="5400" b="1" i="0" u="none" dirty="0">
              <a:solidFill>
                <a:srgbClr val="002060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46753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447</Words>
  <Application>Microsoft Office PowerPoint</Application>
  <PresentationFormat>Custom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Lato</vt:lpstr>
      <vt:lpstr>Poppins</vt:lpstr>
      <vt:lpstr>Poppins SemiBold</vt:lpstr>
      <vt:lpstr>Times New Roman</vt:lpstr>
      <vt:lpstr>Office Theme</vt:lpstr>
      <vt:lpstr>CUSTOMER SUPPORT INTENT CLASSIFICATION &amp; RESPONSE GENERATION PIPELINE A Dual Model Architecture  (TF-IDF Baseline + LLaMA-2 SFT via QLoRA)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Ampem Nketiah Wereko</cp:lastModifiedBy>
  <cp:revision>6</cp:revision>
  <dcterms:created xsi:type="dcterms:W3CDTF">2018-08-28T12:40:56Z</dcterms:created>
  <dcterms:modified xsi:type="dcterms:W3CDTF">2026-09-01T15:16:32Z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2014-10-30T00:00:00Z</vt:filetime>
  </property>
  <property fmtid="{D5CDD505-2E9C-101B-9397-08002B2CF9AE}" pid="3" name="Creator">
    <vt:lpwstr>CorelDRAW</vt:lpwstr>
  </property>
  <property fmtid="{D5CDD505-2E9C-101B-9397-08002B2CF9AE}" pid="4" name="LastSaved">
    <vt:filetime>2018-08-28T00:00:00Z</vt:filetime>
  </property>
</Properties>
</file>